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276" r:id="rId4"/>
    <p:sldId id="258" r:id="rId5"/>
    <p:sldId id="302" r:id="rId6"/>
    <p:sldId id="294" r:id="rId7"/>
    <p:sldId id="296" r:id="rId8"/>
    <p:sldId id="297" r:id="rId9"/>
    <p:sldId id="298" r:id="rId10"/>
    <p:sldId id="300" r:id="rId11"/>
    <p:sldId id="301" r:id="rId12"/>
    <p:sldId id="304" r:id="rId13"/>
    <p:sldId id="272" r:id="rId14"/>
    <p:sldId id="30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09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-62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B550A-B334-4C42-88E5-7AC58A7CCBB9}" type="datetimeFigureOut">
              <a:rPr lang="ru-RU" smtClean="0"/>
              <a:pPr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F8B37-3F1E-41F0-B9C0-7BFC7161766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4700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230B-4DF4-4A0D-85EE-02E95789F073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2332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A342E-E70C-4BAE-9C80-126D0676BD10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0860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1C0C-2B61-4CE5-8BD5-50CA1666C990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05314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AD5B-E244-4353-AFC0-2C99031DD63E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4303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8698-5F26-4130-B17E-B78FD5FBD5C6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9069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979E-9FBC-465F-ACCB-F1CB6CAA61CF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2963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5F257-CE70-4743-BAF8-CB5695AA2DC1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6221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BDEFB86-5E8C-4553-9FDD-4476D32F8E9A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0505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DAAC2-01D1-4FF1-B7E9-FDEF1CDF8E1B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5556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F30B-7FAB-48C7-BFB8-EAF8B899D1EC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0253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75ACE-1B27-4523-9EF5-6149F7D66F8A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56952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D95C1FC-237A-4B0A-B311-8ADC478972DA}" type="datetime1">
              <a:rPr lang="ru-RU" smtClean="0"/>
              <a:pPr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E292065-2FDA-41DD-B8FC-039D88666A9C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54865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EBC007C-CDDA-6A8B-EA97-95AD041ED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7438" y="1649289"/>
            <a:ext cx="10058400" cy="2559283"/>
          </a:xfrm>
        </p:spPr>
        <p:txBody>
          <a:bodyPr>
            <a:normAutofit/>
          </a:bodyPr>
          <a:lstStyle/>
          <a:p>
            <a:r>
              <a:rPr lang="ru-RU" sz="4800" dirty="0" smtClean="0"/>
              <a:t>Уравнение </a:t>
            </a:r>
            <a:r>
              <a:rPr lang="ru-RU" sz="4800" dirty="0" err="1" smtClean="0"/>
              <a:t>Навьер-Стокса</a:t>
            </a:r>
            <a:r>
              <a:rPr lang="ru-RU" sz="4800" dirty="0" smtClean="0"/>
              <a:t>. Течение жидкости в трещине.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7243DF6D-9018-9C07-EE4A-96B180BCB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62573"/>
            <a:ext cx="10058400" cy="1602557"/>
          </a:xfrm>
        </p:spPr>
        <p:txBody>
          <a:bodyPr>
            <a:normAutofit/>
          </a:bodyPr>
          <a:lstStyle/>
          <a:p>
            <a:r>
              <a:rPr lang="ru-RU" dirty="0"/>
              <a:t>Браташ М.А.</a:t>
            </a:r>
          </a:p>
          <a:p>
            <a:r>
              <a:rPr lang="ru-RU" dirty="0" smtClean="0"/>
              <a:t>Группа </a:t>
            </a:r>
            <a:r>
              <a:rPr lang="ru-RU" dirty="0"/>
              <a:t>105</a:t>
            </a:r>
          </a:p>
        </p:txBody>
      </p:sp>
    </p:spTree>
    <p:extLst>
      <p:ext uri="{BB962C8B-B14F-4D97-AF65-F5344CB8AC3E}">
        <p14:creationId xmlns="" xmlns:p14="http://schemas.microsoft.com/office/powerpoint/2010/main" val="213661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2C3A3C2-D687-169F-07E2-96522BCB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Задача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C1FDFD1A-7858-7093-E4B7-DC2B26015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2750"/>
            <a:ext cx="10214886" cy="3789575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 Построение PINN-модели для аппроксимации полей скорости и давления течения жидкости в трещине на основе уравнений Навье—Стокса.</a:t>
            </a:r>
            <a:endParaRPr lang="ru-RU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="" xmlns:a16="http://schemas.microsoft.com/office/drawing/2014/main" id="{243A178C-D535-49CA-BAFC-79B3A710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0105" y="2910801"/>
            <a:ext cx="5859515" cy="3241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36611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3CC565-3ECB-1A27-8EA5-BFCB1CD6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66C33E1-ADEA-3138-46CA-61C26FB4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GPINN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6C94871B-7A5F-E79D-D660-F3041F35D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2" y="1816948"/>
            <a:ext cx="10435471" cy="247925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b="1" dirty="0" smtClean="0"/>
              <a:t>  </a:t>
            </a:r>
            <a:r>
              <a:rPr lang="ru-RU" sz="2400" b="1" dirty="0" err="1" smtClean="0"/>
              <a:t>gPINN</a:t>
            </a:r>
            <a:r>
              <a:rPr lang="ru-RU" sz="2400" dirty="0" smtClean="0"/>
              <a:t> — дополнительно минимизирует производные от невязок, обеспечивая более строгое соблюдение физики.</a:t>
            </a:r>
            <a:endParaRPr lang="ru-RU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="" xmlns:a16="http://schemas.microsoft.com/office/drawing/2014/main" id="{420B8735-74CF-8911-9226-05B8FDE4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0431" y="2830698"/>
            <a:ext cx="4588393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50477" y="2438056"/>
            <a:ext cx="3456384" cy="3594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6777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BAFD6D3-B8C8-EE34-AE42-41EF8FC5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965" y="192505"/>
            <a:ext cx="6290109" cy="1450757"/>
          </a:xfrm>
        </p:spPr>
        <p:txBody>
          <a:bodyPr/>
          <a:lstStyle/>
          <a:p>
            <a:r>
              <a:rPr lang="ru-RU" dirty="0" smtClean="0"/>
              <a:t>Программная реализация </a:t>
            </a:r>
            <a:r>
              <a:rPr lang="en-US" dirty="0" smtClean="0"/>
              <a:t>GPINN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854F796-5ED2-68E0-6680-CC6BFED62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205872"/>
            <a:ext cx="5712593" cy="21736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 smtClean="0"/>
              <a:t>Функция вычисляет невязки уравнений Стокса и их пространственные градиенты для комбинированной функции потерь PINN, штрафующей как сами уравнения, так и их производные.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8928B30-C3D2-9214-D411-5353BD52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43081" y="540879"/>
            <a:ext cx="5296519" cy="5662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66234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BAFD6D3-B8C8-EE34-AE42-41EF8FC5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965" y="192505"/>
            <a:ext cx="10188340" cy="1450757"/>
          </a:xfrm>
        </p:spPr>
        <p:txBody>
          <a:bodyPr/>
          <a:lstStyle/>
          <a:p>
            <a:r>
              <a:rPr lang="ru-RU" dirty="0" smtClean="0"/>
              <a:t>Параметры нейронной сети для </a:t>
            </a:r>
            <a:r>
              <a:rPr lang="en-US" dirty="0" smtClean="0"/>
              <a:t>GPINN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8928B30-C3D2-9214-D411-5353BD52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8" name="Содержимое 7"/>
          <p:cNvGraphicFramePr>
            <a:graphicFrameLocks noGrp="1"/>
          </p:cNvGraphicFramePr>
          <p:nvPr>
            <p:ph idx="1"/>
          </p:nvPr>
        </p:nvGraphicFramePr>
        <p:xfrm>
          <a:off x="637677" y="1846263"/>
          <a:ext cx="10840449" cy="34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483"/>
                <a:gridCol w="3858124"/>
                <a:gridCol w="3368842"/>
              </a:tblGrid>
              <a:tr h="687120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Прямая трещина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Сужающаяся трещина</a:t>
                      </a:r>
                      <a:endParaRPr lang="ru-RU" sz="2400" dirty="0"/>
                    </a:p>
                  </a:txBody>
                  <a:tcPr/>
                </a:tc>
              </a:tr>
              <a:tr h="68712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Кол-во</a:t>
                      </a:r>
                      <a:r>
                        <a:rPr lang="ru-RU" sz="2400" baseline="0" dirty="0" smtClean="0"/>
                        <a:t> скрытых слоев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4</a:t>
                      </a:r>
                      <a:endParaRPr lang="ru-RU" sz="2400" dirty="0"/>
                    </a:p>
                  </a:txBody>
                  <a:tcPr/>
                </a:tc>
              </a:tr>
              <a:tr h="68712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Кол-во нейронов на слой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32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64</a:t>
                      </a:r>
                      <a:endParaRPr lang="ru-RU" sz="2400" dirty="0"/>
                    </a:p>
                  </a:txBody>
                  <a:tcPr/>
                </a:tc>
              </a:tr>
              <a:tr h="68712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Архитектура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[2] + [32, 32, 32, 32] + [3]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[2] + [64, 64, 64, 64] + [3]</a:t>
                      </a:r>
                      <a:endParaRPr lang="ru-RU" sz="2400" dirty="0"/>
                    </a:p>
                  </a:txBody>
                  <a:tcPr/>
                </a:tc>
              </a:tr>
              <a:tr h="687120"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Активация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tanh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tanh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662347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BAFD6D3-B8C8-EE34-AE42-41EF8FC5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GPINN </a:t>
            </a:r>
            <a:r>
              <a:rPr lang="ru-RU" dirty="0" smtClean="0"/>
              <a:t>для прямой трещины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854F796-5ED2-68E0-6680-CC6BFED62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205872"/>
            <a:ext cx="10058399" cy="41843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8928B30-C3D2-9214-D411-5353BD52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6" name="Picture 2" descr="C:\Users\user\Desktop\work\new\finals\gpinn\results_simpl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5668" y="1950189"/>
            <a:ext cx="9359059" cy="41893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66234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BAFD6D3-B8C8-EE34-AE42-41EF8FC5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GPINN </a:t>
            </a:r>
            <a:r>
              <a:rPr lang="ru-RU" dirty="0" smtClean="0"/>
              <a:t>для сужающейся трещины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854F796-5ED2-68E0-6680-CC6BFED62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205872"/>
            <a:ext cx="10058399" cy="41843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8928B30-C3D2-9214-D411-5353BD52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4099" name="Picture 3" descr="C:\Users\user\Desktop\work\new\gpinn_navier_stokes_constricted_outputs\comprehensive_result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1101" y="2001962"/>
            <a:ext cx="9429749" cy="42298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66234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3CC565-3ECB-1A27-8EA5-BFCB1CD6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66C33E1-ADEA-3138-46CA-61C26FB4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DeepOnet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6C94871B-7A5F-E79D-D660-F3041F35D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651" y="2117738"/>
            <a:ext cx="10435471" cy="2479250"/>
          </a:xfrm>
        </p:spPr>
        <p:txBody>
          <a:bodyPr>
            <a:normAutofit/>
          </a:bodyPr>
          <a:lstStyle/>
          <a:p>
            <a:r>
              <a:rPr lang="ru-RU" sz="2400" dirty="0" err="1" smtClean="0"/>
              <a:t>DeepONet</a:t>
            </a:r>
            <a:r>
              <a:rPr lang="ru-RU" sz="2400" dirty="0" smtClean="0"/>
              <a:t> реализован через три отдельных сети — по одной для </a:t>
            </a:r>
            <a:r>
              <a:rPr lang="ru-RU" sz="2400" dirty="0" err="1" smtClean="0"/>
              <a:t>u</a:t>
            </a:r>
            <a:r>
              <a:rPr lang="ru-RU" sz="2400" dirty="0" smtClean="0"/>
              <a:t>, </a:t>
            </a:r>
            <a:r>
              <a:rPr lang="ru-RU" sz="2400" dirty="0" err="1" smtClean="0"/>
              <a:t>v</a:t>
            </a:r>
            <a:r>
              <a:rPr lang="ru-RU" sz="2400" dirty="0" smtClean="0"/>
              <a:t> и </a:t>
            </a:r>
            <a:r>
              <a:rPr lang="ru-RU" sz="2400" dirty="0" err="1" smtClean="0"/>
              <a:t>p</a:t>
            </a:r>
            <a:r>
              <a:rPr lang="ru-RU" sz="2400" dirty="0" smtClean="0"/>
              <a:t>, каждая принимает граничные условия (</a:t>
            </a:r>
            <a:r>
              <a:rPr lang="ru-RU" sz="2400" dirty="0" err="1" smtClean="0"/>
              <a:t>branch</a:t>
            </a:r>
            <a:r>
              <a:rPr lang="ru-RU" sz="2400" dirty="0" smtClean="0"/>
              <a:t>) и координаты (</a:t>
            </a:r>
            <a:r>
              <a:rPr lang="ru-RU" sz="2400" dirty="0" err="1" smtClean="0"/>
              <a:t>trunk</a:t>
            </a:r>
            <a:r>
              <a:rPr lang="ru-RU" sz="2400" dirty="0" smtClean="0"/>
              <a:t>), а их скалярное произведение даёт значение поля в точке. Обучение ведётся комбинированным </a:t>
            </a:r>
            <a:r>
              <a:rPr lang="ru-RU" sz="2400" dirty="0" err="1" smtClean="0"/>
              <a:t>loss</a:t>
            </a:r>
            <a:r>
              <a:rPr lang="ru-RU" sz="2400" dirty="0" smtClean="0"/>
              <a:t>: MSE с эталонными данными плюс физическая невязка уравнений </a:t>
            </a:r>
            <a:r>
              <a:rPr lang="ru-RU" sz="2400" dirty="0" err="1" smtClean="0"/>
              <a:t>Навье-Стокса</a:t>
            </a:r>
            <a:r>
              <a:rPr lang="ru-RU" sz="2400" dirty="0" smtClean="0"/>
              <a:t> (PINN).</a:t>
            </a:r>
            <a:endParaRPr lang="ru-RU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="" xmlns:a16="http://schemas.microsoft.com/office/drawing/2014/main" id="{420B8735-74CF-8911-9226-05B8FDE4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6777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3CC565-3ECB-1A27-8EA5-BFCB1CD6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66C33E1-ADEA-3138-46CA-61C26FB4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Схема архитектуры </a:t>
            </a:r>
            <a:r>
              <a:rPr lang="en-US" dirty="0" err="1" smtClean="0"/>
              <a:t>DeepOnet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6C94871B-7A5F-E79D-D660-F3041F35D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2" y="1816948"/>
            <a:ext cx="10435471" cy="2479250"/>
          </a:xfrm>
        </p:spPr>
        <p:txBody>
          <a:bodyPr>
            <a:normAutofit/>
          </a:bodyPr>
          <a:lstStyle/>
          <a:p>
            <a:endParaRPr lang="ru-RU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="" xmlns:a16="http://schemas.microsoft.com/office/drawing/2014/main" id="{420B8735-74CF-8911-9226-05B8FDE4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7614" y="1887456"/>
            <a:ext cx="10393362" cy="4216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67772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3CC565-3ECB-1A27-8EA5-BFCB1CD6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66C33E1-ADEA-3138-46CA-61C26FB4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Программная реализация </a:t>
            </a:r>
            <a:r>
              <a:rPr lang="en-US" dirty="0" err="1" smtClean="0"/>
              <a:t>DeepOnet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="" xmlns:a16="http://schemas.microsoft.com/office/drawing/2014/main" id="{6C94871B-7A5F-E79D-D660-F3041F35D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519" y="1816948"/>
            <a:ext cx="6543303" cy="3633826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None/>
              <a:defRPr/>
            </a:pPr>
            <a:r>
              <a:rPr lang="ru-RU" b="1" dirty="0" smtClean="0"/>
              <a:t>Архитектура:</a:t>
            </a:r>
            <a:endParaRPr lang="ru-RU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ru-RU" b="1" dirty="0" smtClean="0"/>
              <a:t>  </a:t>
            </a:r>
            <a:r>
              <a:rPr lang="en-US" b="1" dirty="0" smtClean="0"/>
              <a:t>Branch net</a:t>
            </a:r>
            <a:r>
              <a:rPr lang="en-US" dirty="0" smtClean="0"/>
              <a:t> 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err="1" smtClean="0"/>
              <a:t>полносвязная</a:t>
            </a:r>
            <a:r>
              <a:rPr lang="ru-RU" dirty="0" smtClean="0"/>
              <a:t> сеть (3 слоя × </a:t>
            </a:r>
            <a:r>
              <a:rPr lang="ru-RU" dirty="0" err="1" smtClean="0"/>
              <a:t>Tanh</a:t>
            </a:r>
            <a:r>
              <a:rPr lang="ru-RU" dirty="0" smtClean="0"/>
              <a:t>), кодирует граничные условия (сенсоры на входе)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ru-RU" b="1" dirty="0" smtClean="0"/>
              <a:t>  </a:t>
            </a:r>
            <a:r>
              <a:rPr lang="en-US" b="1" dirty="0" smtClean="0"/>
              <a:t>Trunk net</a:t>
            </a:r>
            <a:r>
              <a:rPr lang="en-US" dirty="0" smtClean="0"/>
              <a:t> 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err="1" smtClean="0"/>
              <a:t>полносвязная</a:t>
            </a:r>
            <a:r>
              <a:rPr lang="ru-RU" dirty="0" smtClean="0"/>
              <a:t> сеть (3 слоя × </a:t>
            </a:r>
            <a:r>
              <a:rPr lang="ru-RU" dirty="0" err="1" smtClean="0"/>
              <a:t>Tanh</a:t>
            </a:r>
            <a:r>
              <a:rPr lang="ru-RU" dirty="0" smtClean="0"/>
              <a:t>), кодирует координаты (</a:t>
            </a:r>
            <a:r>
              <a:rPr lang="en-US" dirty="0" smtClean="0"/>
              <a:t>x, 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ru-RU" b="1" dirty="0" smtClean="0"/>
              <a:t>  Выход</a:t>
            </a:r>
            <a:r>
              <a:rPr lang="ru-RU" dirty="0" smtClean="0"/>
              <a:t> - скалярное произведение </a:t>
            </a:r>
            <a:r>
              <a:rPr lang="en-US" dirty="0" smtClean="0"/>
              <a:t>branch ⊗ trunk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ru-RU" dirty="0" smtClean="0"/>
              <a:t>Три независимых </a:t>
            </a:r>
            <a:r>
              <a:rPr lang="en-US" dirty="0" err="1" smtClean="0"/>
              <a:t>DeepONet</a:t>
            </a:r>
            <a:r>
              <a:rPr lang="en-US" dirty="0" smtClean="0"/>
              <a:t> </a:t>
            </a:r>
            <a:r>
              <a:rPr lang="ru-RU" dirty="0" smtClean="0"/>
              <a:t>для </a:t>
            </a:r>
            <a:r>
              <a:rPr lang="en-US" dirty="0" smtClean="0"/>
              <a:t>u, v, p</a:t>
            </a:r>
          </a:p>
          <a:p>
            <a:pPr lvl="0">
              <a:lnSpc>
                <a:spcPct val="100000"/>
              </a:lnSpc>
              <a:buNone/>
              <a:defRPr/>
            </a:pPr>
            <a:r>
              <a:rPr lang="ru-RU" b="1" dirty="0" smtClean="0"/>
              <a:t>Обучение:</a:t>
            </a:r>
            <a:endParaRPr lang="ru-RU" dirty="0" smtClean="0"/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ru-RU" b="1" dirty="0" smtClean="0"/>
              <a:t>  </a:t>
            </a:r>
            <a:r>
              <a:rPr lang="en-US" b="1" dirty="0" smtClean="0"/>
              <a:t>Data loss</a:t>
            </a:r>
            <a:r>
              <a:rPr lang="en-US" dirty="0" smtClean="0"/>
              <a:t> </a:t>
            </a:r>
            <a:r>
              <a:rPr lang="ru-RU" dirty="0" smtClean="0"/>
              <a:t>-</a:t>
            </a:r>
            <a:r>
              <a:rPr lang="en-US" dirty="0" smtClean="0"/>
              <a:t> MSE </a:t>
            </a:r>
            <a:r>
              <a:rPr lang="ru-RU" dirty="0" smtClean="0"/>
              <a:t>с аналитическим решением </a:t>
            </a:r>
            <a:r>
              <a:rPr lang="ru-RU" dirty="0" err="1" smtClean="0"/>
              <a:t>Пуазейля</a:t>
            </a:r>
            <a:endParaRPr lang="ru-RU" dirty="0" smtClean="0"/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ru-RU" b="1" dirty="0" smtClean="0"/>
              <a:t>  </a:t>
            </a:r>
            <a:r>
              <a:rPr lang="en-US" b="1" dirty="0" smtClean="0"/>
              <a:t>PDE loss</a:t>
            </a:r>
            <a:r>
              <a:rPr lang="en-US" dirty="0" smtClean="0"/>
              <a:t> 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smtClean="0"/>
              <a:t>невязка уравнений </a:t>
            </a:r>
            <a:r>
              <a:rPr lang="ru-RU" dirty="0" err="1" smtClean="0"/>
              <a:t>Навье-Стокса</a:t>
            </a:r>
            <a:r>
              <a:rPr lang="ru-RU" dirty="0" smtClean="0"/>
              <a:t> через </a:t>
            </a:r>
            <a:r>
              <a:rPr lang="en-US" dirty="0" err="1" smtClean="0"/>
              <a:t>autograd</a:t>
            </a:r>
            <a:endParaRPr lang="en-US" dirty="0" smtClean="0"/>
          </a:p>
          <a:p>
            <a:pPr>
              <a:lnSpc>
                <a:spcPct val="100000"/>
              </a:lnSpc>
            </a:pP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="" xmlns:a16="http://schemas.microsoft.com/office/drawing/2014/main" id="{420B8735-74CF-8911-9226-05B8FDE4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82277" y="1776991"/>
            <a:ext cx="3992891" cy="4326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67772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BAFD6D3-B8C8-EE34-AE42-41EF8FC5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DeepOnet</a:t>
            </a:r>
            <a:r>
              <a:rPr lang="ru-RU" dirty="0" smtClean="0"/>
              <a:t> для прямой трещины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854F796-5ED2-68E0-6680-CC6BFED62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205872"/>
            <a:ext cx="10058399" cy="41843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8928B30-C3D2-9214-D411-5353BD52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5122" name="Picture 2" descr="C:\Users\user\Desktop\work\new\deeponet_simple_navier_stokes\plots\result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398" y="1918381"/>
            <a:ext cx="9334729" cy="41671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662347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BAFD6D3-B8C8-EE34-AE42-41EF8FC5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80" y="-234097"/>
            <a:ext cx="10058400" cy="1450757"/>
          </a:xfrm>
        </p:spPr>
        <p:txBody>
          <a:bodyPr/>
          <a:lstStyle/>
          <a:p>
            <a:r>
              <a:rPr lang="en-US" dirty="0" err="1" smtClean="0"/>
              <a:t>DeepOnet</a:t>
            </a:r>
            <a:r>
              <a:rPr lang="ru-RU" dirty="0" smtClean="0"/>
              <a:t> для сужающейся трещины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854F796-5ED2-68E0-6680-CC6BFED62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205872"/>
            <a:ext cx="10058399" cy="41843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8928B30-C3D2-9214-D411-5353BD52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3075" name="Picture 3" descr="C:\Users\user\Desktop\work\new\deeponet_hard_navier_stokes\result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1486" y="1585686"/>
            <a:ext cx="10530114" cy="47024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66234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3339B5-8F3B-7354-96D4-A419DED2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B249CE3-22A4-2BED-CBC1-7B7F40C7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217" y="0"/>
            <a:ext cx="10058400" cy="1450757"/>
          </a:xfrm>
        </p:spPr>
        <p:txBody>
          <a:bodyPr/>
          <a:lstStyle/>
          <a:p>
            <a:r>
              <a:rPr lang="ru-RU" dirty="0"/>
              <a:t>Итоги</a:t>
            </a: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1064406" y="1670113"/>
          <a:ext cx="10044280" cy="3732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856"/>
                <a:gridCol w="2008856"/>
                <a:gridCol w="2008856"/>
                <a:gridCol w="2008856"/>
                <a:gridCol w="2008856"/>
              </a:tblGrid>
              <a:tr h="389132">
                <a:tc>
                  <a:txBody>
                    <a:bodyPr/>
                    <a:lstStyle/>
                    <a:p>
                      <a:pPr algn="l" fontAlgn="ctr"/>
                      <a:r>
                        <a:rPr lang="ru-RU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Метрика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F1115"/>
                          </a:solidFill>
                          <a:latin typeface="+mn-lt"/>
                        </a:rPr>
                        <a:t>DeepONet</a:t>
                      </a:r>
                      <a:r>
                        <a:rPr lang="en-US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 </a:t>
                      </a:r>
                      <a:r>
                        <a:rPr lang="ru-RU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прямая труба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F1115"/>
                          </a:solidFill>
                          <a:latin typeface="+mn-lt"/>
                        </a:rPr>
                        <a:t>DeepONet</a:t>
                      </a:r>
                      <a:r>
                        <a:rPr lang="en-US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 </a:t>
                      </a:r>
                      <a:r>
                        <a:rPr lang="ru-RU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сужение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F1115"/>
                          </a:solidFill>
                          <a:latin typeface="+mn-lt"/>
                        </a:rPr>
                        <a:t>gPINN</a:t>
                      </a:r>
                      <a:r>
                        <a:rPr lang="en-US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 </a:t>
                      </a:r>
                      <a:r>
                        <a:rPr lang="ru-RU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прямая труба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F1115"/>
                          </a:solidFill>
                          <a:latin typeface="+mn-lt"/>
                        </a:rPr>
                        <a:t>gPINN</a:t>
                      </a:r>
                      <a:r>
                        <a:rPr lang="en-US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 </a:t>
                      </a:r>
                      <a:r>
                        <a:rPr lang="ru-RU" sz="20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сужение</a:t>
                      </a:r>
                    </a:p>
                  </a:txBody>
                  <a:tcPr marL="85725" marR="9525" marT="9525" marB="0" anchor="ctr"/>
                </a:tc>
              </a:tr>
              <a:tr h="389132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1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Итерации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2</a:t>
                      </a:r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 </a:t>
                      </a:r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000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4</a:t>
                      </a:r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 </a:t>
                      </a:r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000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2</a:t>
                      </a:r>
                      <a:r>
                        <a:rPr lang="en-US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0</a:t>
                      </a:r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00</a:t>
                      </a:r>
                      <a:endParaRPr lang="ru-RU" sz="1600" b="0" i="0" u="none" strike="noStrike" dirty="0">
                        <a:solidFill>
                          <a:srgbClr val="0F1115"/>
                        </a:solidFill>
                        <a:latin typeface="+mn-lt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4</a:t>
                      </a:r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 </a:t>
                      </a:r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000</a:t>
                      </a:r>
                    </a:p>
                  </a:txBody>
                  <a:tcPr marL="85725" marR="9525" marT="9525" marB="0" anchor="b"/>
                </a:tc>
              </a:tr>
              <a:tr h="389132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1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Ошибка </a:t>
                      </a:r>
                      <a:r>
                        <a:rPr lang="en-US" sz="1600" b="1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u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9.2%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12.8%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1.2% 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2</a:t>
                      </a:r>
                      <a:r>
                        <a:rPr lang="en-US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7.2</a:t>
                      </a:r>
                      <a:r>
                        <a:rPr lang="en-US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% </a:t>
                      </a:r>
                    </a:p>
                  </a:txBody>
                  <a:tcPr marL="85725" marR="9525" marT="9525" marB="0" anchor="b"/>
                </a:tc>
              </a:tr>
              <a:tr h="389132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1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Ошибка </a:t>
                      </a:r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v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10.0%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33.4%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0.05% 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~</a:t>
                      </a:r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0.09%</a:t>
                      </a:r>
                      <a:endParaRPr lang="ru-RU" sz="1600" b="0" i="0" u="none" strike="noStrike" dirty="0">
                        <a:solidFill>
                          <a:srgbClr val="0F1115"/>
                        </a:solidFill>
                        <a:latin typeface="+mn-lt"/>
                      </a:endParaRPr>
                    </a:p>
                  </a:txBody>
                  <a:tcPr marL="85725" marR="9525" marT="9525" marB="0" anchor="b"/>
                </a:tc>
              </a:tr>
              <a:tr h="389132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1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Ошибка </a:t>
                      </a:r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p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7.0%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4.5% 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12</a:t>
                      </a:r>
                      <a:r>
                        <a:rPr lang="en-US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% </a:t>
                      </a:r>
                      <a:endParaRPr lang="en-US" sz="1600" b="0" i="0" u="none" strike="noStrike" dirty="0">
                        <a:solidFill>
                          <a:srgbClr val="0F1115"/>
                        </a:solidFill>
                        <a:latin typeface="+mn-lt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~17%</a:t>
                      </a:r>
                      <a:endParaRPr lang="ru-RU" sz="1600" b="0" i="0" u="none" strike="noStrike" dirty="0">
                        <a:solidFill>
                          <a:srgbClr val="0F1115"/>
                        </a:solidFill>
                        <a:latin typeface="+mn-lt"/>
                      </a:endParaRPr>
                    </a:p>
                  </a:txBody>
                  <a:tcPr marL="85725" marR="9525" marT="9525" marB="0" anchor="b"/>
                </a:tc>
              </a:tr>
              <a:tr h="3891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R² u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~0.96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0.949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~0.999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~</a:t>
                      </a:r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0.85</a:t>
                      </a:r>
                      <a:endParaRPr lang="ru-RU" sz="1600" b="0" i="0" u="none" strike="noStrike" dirty="0">
                        <a:solidFill>
                          <a:srgbClr val="0F1115"/>
                        </a:solidFill>
                        <a:latin typeface="+mn-lt"/>
                      </a:endParaRPr>
                    </a:p>
                  </a:txBody>
                  <a:tcPr marL="85725" marR="9525" marT="9525" marB="0" anchor="b"/>
                </a:tc>
              </a:tr>
              <a:tr h="3891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R² p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~0.97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0.994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~</a:t>
                      </a:r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0.996</a:t>
                      </a:r>
                      <a:endParaRPr lang="ru-RU" sz="1600" b="0" i="0" u="none" strike="noStrike" dirty="0">
                        <a:solidFill>
                          <a:srgbClr val="0F1115"/>
                        </a:solidFill>
                        <a:latin typeface="+mn-lt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~</a:t>
                      </a:r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0.94</a:t>
                      </a:r>
                      <a:endParaRPr lang="ru-RU" sz="1600" b="0" i="0" u="none" strike="noStrike" dirty="0">
                        <a:solidFill>
                          <a:srgbClr val="0F1115"/>
                        </a:solidFill>
                        <a:latin typeface="+mn-lt"/>
                      </a:endParaRPr>
                    </a:p>
                  </a:txBody>
                  <a:tcPr marL="85725" marR="9525" marT="9525" marB="0" anchor="b"/>
                </a:tc>
              </a:tr>
              <a:tr h="3891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MSE u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0.65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0.02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0.00007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~0.1</a:t>
                      </a:r>
                    </a:p>
                  </a:txBody>
                  <a:tcPr marL="85725" marR="9525" marT="9525" marB="0" anchor="b"/>
                </a:tc>
              </a:tr>
              <a:tr h="3891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MSE p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0.009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>
                          <a:solidFill>
                            <a:srgbClr val="0F1115"/>
                          </a:solidFill>
                          <a:latin typeface="+mn-lt"/>
                        </a:rPr>
                        <a:t>0.033</a:t>
                      </a: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 smtClean="0">
                          <a:solidFill>
                            <a:srgbClr val="0F1115"/>
                          </a:solidFill>
                          <a:latin typeface="+mn-lt"/>
                        </a:rPr>
                        <a:t>0.014</a:t>
                      </a:r>
                      <a:endParaRPr lang="ru-RU" sz="1600" b="0" i="0" u="none" strike="noStrike" dirty="0">
                        <a:solidFill>
                          <a:srgbClr val="0F1115"/>
                        </a:solidFill>
                        <a:latin typeface="+mn-lt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F1115"/>
                          </a:solidFill>
                          <a:latin typeface="+mn-lt"/>
                        </a:rPr>
                        <a:t>~0.05</a:t>
                      </a:r>
                    </a:p>
                  </a:txBody>
                  <a:tcPr marL="85725" marR="9525" marT="9525" marB="0" anchor="b"/>
                </a:tc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1F6AB9FC-8096-F033-6327-56FFF88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45502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3339B5-8F3B-7354-96D4-A419DED2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B249CE3-22A4-2BED-CBC1-7B7F40C7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217" y="0"/>
            <a:ext cx="10058400" cy="1450757"/>
          </a:xfrm>
        </p:spPr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1F6AB9FC-8096-F033-6327-56FFF88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2065-2FDA-41DD-B8FC-039D88666A9C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err="1" smtClean="0"/>
              <a:t>DeepONet</a:t>
            </a:r>
            <a:r>
              <a:rPr lang="ru-RU" sz="2800" dirty="0" smtClean="0"/>
              <a:t> демонстрирует стабильную точность (ошибка 5–13%) и высокую скорость обучения (10–30 с) независимо от геометрии, но требует эталонных решений. </a:t>
            </a:r>
            <a:r>
              <a:rPr lang="ru-RU" sz="2800" dirty="0" err="1" smtClean="0"/>
              <a:t>gPINN</a:t>
            </a:r>
            <a:r>
              <a:rPr lang="ru-RU" sz="2800" dirty="0" smtClean="0"/>
              <a:t> не использует данные и достигает наилучшей точности для прямой трубы (1.2%), однако на сужении уступает </a:t>
            </a:r>
            <a:r>
              <a:rPr lang="ru-RU" sz="2800" dirty="0" err="1" smtClean="0"/>
              <a:t>DeepONet</a:t>
            </a:r>
            <a:r>
              <a:rPr lang="ru-RU" sz="2800" dirty="0" smtClean="0"/>
              <a:t> по скорости в 2 раза и по давлению в 4 раза, характеризуясь чувствительностью к весам и длительным обучением (230 с).</a:t>
            </a:r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224550288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1116</TotalTime>
  <Words>385</Words>
  <Application>Microsoft Office PowerPoint</Application>
  <PresentationFormat>Произвольный</PresentationFormat>
  <Paragraphs>101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Ретро</vt:lpstr>
      <vt:lpstr>Уравнение Навьер-Стокса. Течение жидкости в трещине.</vt:lpstr>
      <vt:lpstr>Задача</vt:lpstr>
      <vt:lpstr>GPINN</vt:lpstr>
      <vt:lpstr>Программная реализация GPINN</vt:lpstr>
      <vt:lpstr>Параметры нейронной сети для GPINN</vt:lpstr>
      <vt:lpstr>GPINN для прямой трещины</vt:lpstr>
      <vt:lpstr>GPINN для сужающейся трещины</vt:lpstr>
      <vt:lpstr>DeepOnet</vt:lpstr>
      <vt:lpstr>Схема архитектуры DeepOnet</vt:lpstr>
      <vt:lpstr>Программная реализация DeepOnet</vt:lpstr>
      <vt:lpstr>DeepOnet для прямой трещины</vt:lpstr>
      <vt:lpstr>DeepOnet для сужающейся трещины</vt:lpstr>
      <vt:lpstr>Итоги</vt:lpstr>
      <vt:lpstr>Итоги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графов. Задача поиска кратчайших путей из одной вершины. Алгоритм дельта-шага.</dc:title>
  <dc:creator>илья иванов</dc:creator>
  <cp:lastModifiedBy>user</cp:lastModifiedBy>
  <cp:revision>45</cp:revision>
  <dcterms:created xsi:type="dcterms:W3CDTF">2025-11-11T14:21:13Z</dcterms:created>
  <dcterms:modified xsi:type="dcterms:W3CDTF">2026-05-22T13:34:00Z</dcterms:modified>
</cp:coreProperties>
</file>